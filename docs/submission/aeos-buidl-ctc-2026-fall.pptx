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4496633bd140d6" /><Relationship Type="http://schemas.openxmlformats.org/officeDocument/2006/relationships/extended-properties" Target="/docProps/app.xml" Id="R4567a326240d4a73" /><Relationship Type="http://schemas.openxmlformats.org/officeDocument/2006/relationships/officeDocument" Target="/ppt/presentation.xml" Id="R098bc9d6f05143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a62e02aea5480c"/>
  </p:sldMasterIdLst>
  <p:notesMasterIdLst>
    <p:notesMasterId xmlns:r="http://schemas.openxmlformats.org/officeDocument/2006/relationships" r:id="R15fa0f8ca28e4ea1"/>
  </p:notesMasterIdLst>
  <p:sldIdLst>
    <p:sldId xmlns:r="http://schemas.openxmlformats.org/officeDocument/2006/relationships" id="256" r:id="R3fcff10343d54991"/>
    <p:sldId xmlns:r="http://schemas.openxmlformats.org/officeDocument/2006/relationships" id="257" r:id="R2a6aded906394dce"/>
    <p:sldId xmlns:r="http://schemas.openxmlformats.org/officeDocument/2006/relationships" id="258" r:id="Rd9a140986a3e4cf7"/>
    <p:sldId xmlns:r="http://schemas.openxmlformats.org/officeDocument/2006/relationships" id="259" r:id="R6a37f738d1884998"/>
    <p:sldId xmlns:r="http://schemas.openxmlformats.org/officeDocument/2006/relationships" id="260" r:id="R18503c7aa7594344"/>
    <p:sldId xmlns:r="http://schemas.openxmlformats.org/officeDocument/2006/relationships" id="261" r:id="Rc546c757cc6b4aaf"/>
    <p:sldId xmlns:r="http://schemas.openxmlformats.org/officeDocument/2006/relationships" id="262" r:id="R0310c6baa75b483f"/>
    <p:sldId xmlns:r="http://schemas.openxmlformats.org/officeDocument/2006/relationships" id="263" r:id="R8a95d35e120a4c2e"/>
    <p:sldId xmlns:r="http://schemas.openxmlformats.org/officeDocument/2006/relationships" id="264" r:id="R1ea5110a25894621"/>
    <p:sldId xmlns:r="http://schemas.openxmlformats.org/officeDocument/2006/relationships" id="265" r:id="R7dcf0a34b71146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dcbd295c7349d1" /><Relationship Type="http://schemas.openxmlformats.org/officeDocument/2006/relationships/slideMaster" Target="/ppt/slideMasters/slideMaster1.xml" Id="Rd5a62e02aea5480c" /><Relationship Type="http://schemas.openxmlformats.org/officeDocument/2006/relationships/notesMaster" Target="/ppt/notesMasters/notesMaster1.xml" Id="R15fa0f8ca28e4ea1" /><Relationship Type="http://schemas.openxmlformats.org/officeDocument/2006/relationships/presProps" Target="/ppt/presProps.xml" Id="R65c88f961a254d7b" /><Relationship Type="http://schemas.openxmlformats.org/officeDocument/2006/relationships/tableStyles" Target="/ppt/tableStyles.xml" Id="R55e0b3bc7aba4206" /><Relationship Type="http://schemas.openxmlformats.org/officeDocument/2006/relationships/slide" Target="/ppt/slides/slide1.xml" Id="R3fcff10343d54991" /><Relationship Type="http://schemas.openxmlformats.org/officeDocument/2006/relationships/slide" Target="/ppt/slides/slide2.xml" Id="R2a6aded906394dce" /><Relationship Type="http://schemas.openxmlformats.org/officeDocument/2006/relationships/slide" Target="/ppt/slides/slide3.xml" Id="Rd9a140986a3e4cf7" /><Relationship Type="http://schemas.openxmlformats.org/officeDocument/2006/relationships/slide" Target="/ppt/slides/slide4.xml" Id="R6a37f738d1884998" /><Relationship Type="http://schemas.openxmlformats.org/officeDocument/2006/relationships/slide" Target="/ppt/slides/slide5.xml" Id="R18503c7aa7594344" /><Relationship Type="http://schemas.openxmlformats.org/officeDocument/2006/relationships/slide" Target="/ppt/slides/slide6.xml" Id="Rc546c757cc6b4aaf" /><Relationship Type="http://schemas.openxmlformats.org/officeDocument/2006/relationships/slide" Target="/ppt/slides/slide7.xml" Id="R0310c6baa75b483f" /><Relationship Type="http://schemas.openxmlformats.org/officeDocument/2006/relationships/slide" Target="/ppt/slides/slide8.xml" Id="R8a95d35e120a4c2e" /><Relationship Type="http://schemas.openxmlformats.org/officeDocument/2006/relationships/slide" Target="/ppt/slides/slide9.xml" Id="R1ea5110a25894621" /><Relationship Type="http://schemas.openxmlformats.org/officeDocument/2006/relationships/slide" Target="/ppt/slides/slide10.xml" Id="R7dcf0a34b71146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e00ab122f54a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93381b5db94000" /><Relationship Type="http://schemas.openxmlformats.org/officeDocument/2006/relationships/notesMaster" Target="/ppt/notesMasters/notesMaster1.xml" Id="R840a3966e0d246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edbd851d704173" /><Relationship Type="http://schemas.openxmlformats.org/officeDocument/2006/relationships/notesMaster" Target="/ppt/notesMasters/notesMaster1.xml" Id="Rc6b5846bedc742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2cb00beb6849a8" /><Relationship Type="http://schemas.openxmlformats.org/officeDocument/2006/relationships/notesMaster" Target="/ppt/notesMasters/notesMaster1.xml" Id="Ra87c44d87d7e46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07fd2755514772" /><Relationship Type="http://schemas.openxmlformats.org/officeDocument/2006/relationships/notesMaster" Target="/ppt/notesMasters/notesMaster1.xml" Id="R8dba191d3d7644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de051319f44e1d" /><Relationship Type="http://schemas.openxmlformats.org/officeDocument/2006/relationships/notesMaster" Target="/ppt/notesMasters/notesMaster1.xml" Id="R4664fcfd628745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506e8b0c404a57" /><Relationship Type="http://schemas.openxmlformats.org/officeDocument/2006/relationships/notesMaster" Target="/ppt/notesMasters/notesMaster1.xml" Id="R664a92e3bacb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43c90d13f244ea" /><Relationship Type="http://schemas.openxmlformats.org/officeDocument/2006/relationships/notesMaster" Target="/ppt/notesMasters/notesMaster1.xml" Id="R1d3d4ad6ee7d4b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6f95dd2d8c4087" /><Relationship Type="http://schemas.openxmlformats.org/officeDocument/2006/relationships/notesMaster" Target="/ppt/notesMasters/notesMaster1.xml" Id="R17d73c32a63a4c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38352dd58141ac" /><Relationship Type="http://schemas.openxmlformats.org/officeDocument/2006/relationships/notesMaster" Target="/ppt/notesMasters/notesMaster1.xml" Id="R076fc514908d4a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34f605eb98434b" /><Relationship Type="http://schemas.openxmlformats.org/officeDocument/2006/relationships/notesMaster" Target="/ppt/notesMasters/notesMaster1.xml" Id="Reb293b47f2c240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trust boundary: verified facts enter; advice comes out; authority stays with the DAO.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C:/Users/P15v/CodeBuddy/AEOS/README.md</a:t>
            </a:r>
          </a:p>
          <a:p xmlns:a="http://schemas.openxmlformats.org/drawingml/2006/main">
            <a:r>
              <a:t>- C:/Users/P15v/CodeBuddy/AEOS/docs/submission/asc-integration-summary.md</a:t>
            </a:r>
          </a:p>
          <a:p xmlns:a="http://schemas.openxmlformats.org/drawingml/2006/main">
            <a:r>
              <a:t>- https://dorahacks.io/hackathon/buidl-ctc-2026-fall/detail</a:t>
            </a:r>
          </a:p>
          <a:p xmlns:a="http://schemas.openxmlformats.org/drawingml/2006/main">
            <a:r>
              <a:t>- https://docs.creditcoin.org/usc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AEOS as a control architecture, not an autonomous trading bot.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C:/Users/P15v/CodeBuddy/AEOS/README.md</a:t>
            </a:r>
          </a:p>
          <a:p xmlns:a="http://schemas.openxmlformats.org/drawingml/2006/main">
            <a:r>
              <a:t>- C:/Users/P15v/CodeBuddy/AEOS/docs/submission/asc-integration-summary.md</a:t>
            </a:r>
          </a:p>
          <a:p xmlns:a="http://schemas.openxmlformats.org/drawingml/2006/main">
            <a:r>
              <a:t>- https://dorahacks.io/hackathon/buidl-ctc-2026-fall/detail</a:t>
            </a:r>
          </a:p>
          <a:p xmlns:a="http://schemas.openxmlformats.org/drawingml/2006/main">
            <a:r>
              <a:t>- https://docs.creditcoin.org/usc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Attestcoin is the verification boundary; AEOS does not ask the model to decide whether data is 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C:/Users/P15v/CodeBuddy/AEOS/README.md</a:t>
            </a:r>
          </a:p>
          <a:p xmlns:a="http://schemas.openxmlformats.org/drawingml/2006/main">
            <a:r>
              <a:t>- C:/Users/P15v/CodeBuddy/AEOS/docs/submission/asc-integration-summary.md</a:t>
            </a:r>
          </a:p>
          <a:p xmlns:a="http://schemas.openxmlformats.org/drawingml/2006/main">
            <a:r>
              <a:t>- https://dorahacks.io/hackathon/buidl-ctc-2026-fall/detail</a:t>
            </a:r>
          </a:p>
          <a:p xmlns:a="http://schemas.openxmlformats.org/drawingml/2006/main">
            <a:r>
              <a:t>- https://docs.creditcoin.org/usc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anchor is a real user-confirmed transaction, while AEOS itself remains unable to sign or broadcast.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C:/Users/P15v/CodeBuddy/AEOS/README.md</a:t>
            </a:r>
          </a:p>
          <a:p xmlns:a="http://schemas.openxmlformats.org/drawingml/2006/main">
            <a:r>
              <a:t>- C:/Users/P15v/CodeBuddy/AEOS/docs/submission/asc-integration-summary.md</a:t>
            </a:r>
          </a:p>
          <a:p xmlns:a="http://schemas.openxmlformats.org/drawingml/2006/main">
            <a:r>
              <a:t>- https://dorahacks.io/hackathon/buidl-ctc-2026-fall/detail</a:t>
            </a:r>
          </a:p>
          <a:p xmlns:a="http://schemas.openxmlformats.org/drawingml/2006/main">
            <a:r>
              <a:t>- https://docs.creditcoin.org/usc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explicit: the third state is the next demonstration target, not a completed claim. The current verified outcome remains 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C:/Users/P15v/CodeBuddy/AEOS/README.md</a:t>
            </a:r>
          </a:p>
          <a:p xmlns:a="http://schemas.openxmlformats.org/drawingml/2006/main">
            <a:r>
              <a:t>- C:/Users/P15v/CodeBuddy/AEOS/docs/submission/asc-integration-summary.md</a:t>
            </a:r>
          </a:p>
          <a:p xmlns:a="http://schemas.openxmlformats.org/drawingml/2006/main">
            <a:r>
              <a:t>- https://dorahacks.io/hackathon/buidl-ctc-2026-fall/detail</a:t>
            </a:r>
          </a:p>
          <a:p xmlns:a="http://schemas.openxmlformats.org/drawingml/2006/main">
            <a:r>
              <a:t>- https://docs.creditcoin.org/usc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completed governance sample proves withholding under DAO control, not trading performance or autonomous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C:/Users/P15v/CodeBuddy/AEOS/README.md</a:t>
            </a:r>
          </a:p>
          <a:p xmlns:a="http://schemas.openxmlformats.org/drawingml/2006/main">
            <a:r>
              <a:t>- C:/Users/P15v/CodeBuddy/AEOS/docs/submission/asc-integration-summary.md</a:t>
            </a:r>
          </a:p>
          <a:p xmlns:a="http://schemas.openxmlformats.org/drawingml/2006/main">
            <a:r>
              <a:t>- https://dorahacks.io/hackathon/buidl-ctc-2026-fall/detail</a:t>
            </a:r>
          </a:p>
          <a:p xmlns:a="http://schemas.openxmlformats.org/drawingml/2006/main">
            <a:r>
              <a:t>- https://docs.creditcoin.org/usc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narrow claim language exactly. Test USDC is not represented as real financial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C:/Users/P15v/CodeBuddy/AEOS/README.md</a:t>
            </a:r>
          </a:p>
          <a:p xmlns:a="http://schemas.openxmlformats.org/drawingml/2006/main">
            <a:r>
              <a:t>- C:/Users/P15v/CodeBuddy/AEOS/docs/submission/asc-integration-summary.md</a:t>
            </a:r>
          </a:p>
          <a:p xmlns:a="http://schemas.openxmlformats.org/drawingml/2006/main">
            <a:r>
              <a:t>- https://dorahacks.io/hackathon/buidl-ctc-2026-fall/detail</a:t>
            </a:r>
          </a:p>
          <a:p xmlns:a="http://schemas.openxmlformats.org/drawingml/2006/main">
            <a:r>
              <a:t>- https://docs.creditcoin.org/usc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adoption hypothesis targets DAO treasury operators, DeFi risk teams and on-chain funds. Each recurring Evidence request and governed workflow creates verifiable Creditcoin activity.</a:t>
            </a:r>
          </a:p>
          <a:p xmlns:a="http://schemas.openxmlformats.org/drawingml/2006/main">
            <a:r>
              <a:t>No users, pilots or partnerships are claimed. A bounded call seeks two to three consented practitioner interviews; social engagement alone is not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C:/Users/P15v/CodeBuddy/AEOS/README.md</a:t>
            </a:r>
          </a:p>
          <a:p xmlns:a="http://schemas.openxmlformats.org/drawingml/2006/main">
            <a:r>
              <a:t>- C:/Users/P15v/CodeBuddy/AEOS/docs/hackathon-competition-audit.md</a:t>
            </a:r>
          </a:p>
          <a:p xmlns:a="http://schemas.openxmlformats.org/drawingml/2006/main">
            <a:r>
              <a:t>- https://buidl.creditcoin.org/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also the recording plan. Avoid navigating through every product page; follow one lineage.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C:/Users/P15v/CodeBuddy/AEOS/README.md</a:t>
            </a:r>
          </a:p>
          <a:p xmlns:a="http://schemas.openxmlformats.org/drawingml/2006/main">
            <a:r>
              <a:t>- C:/Users/P15v/CodeBuddy/AEOS/docs/submission/asc-integration-summary.md</a:t>
            </a:r>
          </a:p>
          <a:p xmlns:a="http://schemas.openxmlformats.org/drawingml/2006/main">
            <a:r>
              <a:t>- https://dorahacks.io/hackathon/buidl-ctc-2026-fall/detail</a:t>
            </a:r>
          </a:p>
          <a:p xmlns:a="http://schemas.openxmlformats.org/drawingml/2006/main">
            <a:r>
              <a:t>- https://docs.creditcoin.org/usc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division of responsibility: Attestcoin proves, AI advises, the DAO authorizes.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C:/Users/P15v/CodeBuddy/AEOS/README.md</a:t>
            </a:r>
          </a:p>
          <a:p xmlns:a="http://schemas.openxmlformats.org/drawingml/2006/main">
            <a:r>
              <a:t>- C:/Users/P15v/CodeBuddy/AEOS/docs/submission/asc-integration-summary.md</a:t>
            </a:r>
          </a:p>
          <a:p xmlns:a="http://schemas.openxmlformats.org/drawingml/2006/main">
            <a:r>
              <a:t>- https://dorahacks.io/hackathon/buidl-ctc-2026-fall/detail</a:t>
            </a:r>
          </a:p>
          <a:p xmlns:a="http://schemas.openxmlformats.org/drawingml/2006/main">
            <a:r>
              <a:t>- https://docs.creditcoin.org/usc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f37073e3946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4d77f90e12412c" /><Relationship Type="http://schemas.openxmlformats.org/officeDocument/2006/relationships/slideLayout" Target="/ppt/slideLayouts/slideLayout1.xml" Id="Rce285164de204f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285164de204f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587f570754f90" /><Relationship Type="http://schemas.openxmlformats.org/officeDocument/2006/relationships/notesSlide" Target="/ppt/notesSlides/notesSlide1.xml" Id="R78237cf00f244b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eb829f551420f" /><Relationship Type="http://schemas.openxmlformats.org/officeDocument/2006/relationships/notesSlide" Target="/ppt/notesSlides/notesSlide2.xml" Id="R36efd747c2aa49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bcbe446314595" /><Relationship Type="http://schemas.openxmlformats.org/officeDocument/2006/relationships/notesSlide" Target="/ppt/notesSlides/notesSlide3.xml" Id="R8c330042e3f142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839402bfc4de8" /><Relationship Type="http://schemas.openxmlformats.org/officeDocument/2006/relationships/notesSlide" Target="/ppt/notesSlides/notesSlide4.xml" Id="R81f5cfa53bc941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10314747449ee" /><Relationship Type="http://schemas.openxmlformats.org/officeDocument/2006/relationships/notesSlide" Target="/ppt/notesSlides/notesSlide5.xml" Id="Rb2becfcc10ba4b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43e118f10405b" /><Relationship Type="http://schemas.openxmlformats.org/officeDocument/2006/relationships/notesSlide" Target="/ppt/notesSlides/notesSlide6.xml" Id="Rb387ae5361e44b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1006170de4cf8" /><Relationship Type="http://schemas.openxmlformats.org/officeDocument/2006/relationships/notesSlide" Target="/ppt/notesSlides/notesSlide7.xml" Id="Rf9967d55861b47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2bce7dd9c4389" /><Relationship Type="http://schemas.openxmlformats.org/officeDocument/2006/relationships/notesSlide" Target="/ppt/notesSlides/notesSlide8.xml" Id="Rc0f05444bd1749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3fdc3e0e045d8" /><Relationship Type="http://schemas.openxmlformats.org/officeDocument/2006/relationships/notesSlide" Target="/ppt/notesSlides/notesSlide9.xml" Id="Rffa1442805ad43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f36aa49c3413b" /><Relationship Type="http://schemas.openxmlformats.org/officeDocument/2006/relationships/notesSlide" Target="/ppt/notesSlides/notesSlide10.xml" Id="R529f3a09d81445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E1518-B3DA-4F1C-B6F2-A9BAA615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6E313-B417-4E4B-B499-31BB4585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2FBFF"/>
                </a:solidFill>
              </a:defRPr>
            </a:pPr>
            <a:r>
              <a:rPr sz="4800" b="1">
                <a:solidFill>
                  <a:srgbClr val="F2FBFF"/>
                </a:solidFill>
              </a:rPr>
              <a:t>AEOS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2525B-61F9-401E-BF13-17274514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3E6FF"/>
                </a:solidFill>
              </a:defRPr>
            </a:pPr>
            <a:r>
              <a:rPr sz="1200" b="1">
                <a:solidFill>
                  <a:srgbClr val="13E6FF"/>
                </a:solidFill>
              </a:rPr>
              <a:t>AUTONOMOUS ENTERPRISE OPERATING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964A6-9F75-48BB-9ED2-B45ED501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771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2FBFF"/>
                </a:solidFill>
              </a:defRPr>
            </a:pPr>
            <a:r>
              <a:rPr sz="3150" b="1">
                <a:solidFill>
                  <a:srgbClr val="F2FBFF"/>
                </a:solidFill>
              </a:rPr>
              <a:t>Verified cross-chain evidence.</a:t>
            </a:r>
          </a:p>
          <a:p xmlns:a="http://schemas.openxmlformats.org/drawingml/2006/main">
            <a:pPr>
              <a:buNone/>
              <a:defRPr sz="3150" b="1">
                <a:solidFill>
                  <a:srgbClr val="F2FBFF"/>
                </a:solidFill>
              </a:defRPr>
            </a:pPr>
            <a:r>
              <a:rPr sz="3150" b="1">
                <a:solidFill>
                  <a:srgbClr val="F2FBFF"/>
                </a:solidFill>
              </a:rPr>
              <a:t>Cited AI decisions.</a:t>
            </a:r>
          </a:p>
          <a:p xmlns:a="http://schemas.openxmlformats.org/drawingml/2006/main">
            <a:pPr>
              <a:buNone/>
              <a:defRPr sz="3150" b="1">
                <a:solidFill>
                  <a:srgbClr val="F2FBFF"/>
                </a:solidFill>
              </a:defRPr>
            </a:pPr>
            <a:r>
              <a:rPr sz="3150" b="1">
                <a:solidFill>
                  <a:srgbClr val="F2FBFF"/>
                </a:solidFill>
              </a:rPr>
              <a:t>DAO-controlled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705FB-2518-447B-B3D7-1BE5D186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46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EB969-9AF4-437F-93FF-BE2548CE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E3D"/>
                </a:solidFill>
              </a:defRPr>
            </a:pPr>
            <a:r>
              <a:rPr sz="1350" b="1">
                <a:solidFill>
                  <a:srgbClr val="FFBE3D"/>
                </a:solidFill>
              </a:rPr>
              <a:t>BUIDL CTC 2026 FALL  ·  AI × DEFI × 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D3D0A-E7B5-4061-9E25-1D905129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8EB2C5"/>
                </a:solidFill>
              </a:defRPr>
            </a:pPr>
            <a:r>
              <a:rPr sz="1650" b="0">
                <a:solidFill>
                  <a:srgbClr val="8EB2C5"/>
                </a:solidFill>
              </a:rPr>
              <a:t>AI advises. The DAO authorizes. Assets never belong to the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BB6AD-36D4-4C4F-B39C-6140A0E4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62500"/>
            <a:ext cx="2514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58F2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B8F90-39BA-42BE-9D74-A7C274C7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291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8F28B"/>
                </a:solidFill>
              </a:defRPr>
            </a:pPr>
            <a:r>
              <a:rPr sz="1050" b="1">
                <a:solidFill>
                  <a:srgbClr val="58F28B"/>
                </a:solidFill>
              </a:rPr>
              <a:t>LIVE TESTNET EVIDENCE</a:t>
            </a:r>
          </a:p>
        </p:txBody>
      </p:sp>
    </p:spTree>
    <p:extLst>
      <p:ext uri="{BB962C8B-B14F-4D97-AF65-F5344CB8AC3E}">
        <p14:creationId xmlns:p14="http://schemas.microsoft.com/office/powerpoint/2010/main" val="493500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1A525-67B6-4C8B-99B7-30FECE88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40AD9-5E2F-4C25-89F7-2C52C27F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3E6FF"/>
                </a:solidFill>
              </a:defRPr>
            </a:pPr>
            <a:r>
              <a:rPr sz="1125" b="1">
                <a:solidFill>
                  <a:srgbClr val="13E6FF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86319-B60B-4518-B92A-10460EAC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8EB2C5"/>
                </a:solidFill>
              </a:defRPr>
            </a:pPr>
            <a:r>
              <a:rPr sz="1125" b="1">
                <a:solidFill>
                  <a:srgbClr val="8EB2C5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CB1FC-94D7-4A31-AD71-25177497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2FBFF"/>
                </a:solidFill>
              </a:defRPr>
            </a:pPr>
            <a:r>
              <a:rPr sz="2850" b="1">
                <a:solidFill>
                  <a:srgbClr val="F2FBFF"/>
                </a:solidFill>
              </a:rPr>
              <a:t>DAO treasury AI has two unacceptable failure modes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675C7-86E2-4FA3-B13B-D03462E3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Unverified inputs create confident hallucinations. Autonomous execution creates unbounded authority.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2C07C-0004-497C-8B74-75206076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56D7F-27D5-496A-9181-1C736640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EB2C5"/>
                </a:solidFill>
              </a:defRPr>
            </a:pPr>
            <a:r>
              <a:rPr sz="900" b="1">
                <a:solidFill>
                  <a:srgbClr val="8EB2C5"/>
                </a:solidFill>
              </a:rPr>
              <a:t>EVIDENCE FIRST   |   DAO IN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651A0-67F9-4C30-B930-EA3E27C7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F5F6D"/>
                </a:solidFill>
              </a:defRPr>
            </a:pPr>
            <a:r>
              <a:rPr sz="3600" b="1">
                <a:solidFill>
                  <a:srgbClr val="FF5F6D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75182-0F99-47FA-9B17-C9C47BD7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098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2FBFF"/>
                </a:solidFill>
              </a:defRPr>
            </a:pPr>
            <a:r>
              <a:rPr sz="2175" b="1">
                <a:solidFill>
                  <a:srgbClr val="F2FBFF"/>
                </a:solidFill>
              </a:rPr>
              <a:t>Untrusted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6CA63-E4B9-4E02-A080-636A0EDF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A transaction hash is not economic truth.</a:t>
            </a:r>
          </a:p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Stale or incomplete data must stop the recommendation.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16929-DED7-4E16-994C-4E1467B6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FBE3D"/>
                </a:solidFill>
              </a:defRPr>
            </a:pPr>
            <a:r>
              <a:rPr sz="3600" b="1">
                <a:solidFill>
                  <a:srgbClr val="FFBE3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6AF3A-8285-4E96-971E-43F87508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098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2FBFF"/>
                </a:solidFill>
              </a:defRPr>
            </a:pPr>
            <a:r>
              <a:rPr sz="2175" b="1">
                <a:solidFill>
                  <a:srgbClr val="F2FBFF"/>
                </a:solidFill>
              </a:rPr>
              <a:t>Unbounded agency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A0766-5508-48F2-9829-BE349829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051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A model must not hold keys, sign, broadcast,</a:t>
            </a:r>
          </a:p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or obtain treasury execution authority.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E0464-8F0A-4964-8D6D-6589F1F5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106489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13E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E5A55-A2AD-41D2-ACCB-82874574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3E6FF"/>
                </a:solidFill>
              </a:defRPr>
            </a:pPr>
            <a:r>
              <a:rPr sz="2100" b="1">
                <a:solidFill>
                  <a:srgbClr val="13E6FF"/>
                </a:solidFill>
              </a:rPr>
              <a:t>AEOS separates evidence, advice and authority into independently verifiable layers.</a:t>
            </a:r>
          </a:p>
        </p:txBody>
      </p:sp>
    </p:spTree>
    <p:extLst>
      <p:ext uri="{BB962C8B-B14F-4D97-AF65-F5344CB8AC3E}">
        <p14:creationId xmlns:p14="http://schemas.microsoft.com/office/powerpoint/2010/main" val="1400970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768386-CFF6-4AE8-B25E-1A25A884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03C8A-2D2C-4A77-9193-A2A92B5F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3E6FF"/>
                </a:solidFill>
              </a:defRPr>
            </a:pPr>
            <a:r>
              <a:rPr sz="1125" b="1">
                <a:solidFill>
                  <a:srgbClr val="13E6FF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6BD7B-8245-4D54-8B33-36C008AA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8EB2C5"/>
                </a:solidFill>
              </a:defRPr>
            </a:pPr>
            <a:r>
              <a:rPr sz="1125" b="1">
                <a:solidFill>
                  <a:srgbClr val="8EB2C5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9401B-14AE-4B4A-964C-6062C9F5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2FBFF"/>
                </a:solidFill>
              </a:defRPr>
            </a:pPr>
            <a:r>
              <a:rPr sz="2850" b="1">
                <a:solidFill>
                  <a:srgbClr val="F2FBFF"/>
                </a:solidFill>
              </a:rPr>
              <a:t>Attestcoin makes source-chain inclusion independently verifiable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B9DF1-58AF-452F-BAFE-BB555CEF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9CB5A-BFB5-4AE8-8E30-2FBF5B7D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EB2C5"/>
                </a:solidFill>
              </a:defRPr>
            </a:pPr>
            <a:r>
              <a:rPr sz="900" b="1">
                <a:solidFill>
                  <a:srgbClr val="8EB2C5"/>
                </a:solidFill>
              </a:rPr>
              <a:t>EVIDENCE FIRST   |   DAO IN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C32BD-CE2E-436B-84F8-24724AF4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528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72064-50EF-4FBE-B6C2-FD893ABA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38500"/>
            <a:ext cx="3619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999DF-2EB2-4185-9544-B298A3D1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528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1ADD7-AB38-4CA6-8995-C312E28F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3619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5A1AD-9F3E-4E64-89DE-9C5B2B7B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C33FB-F096-411D-BD31-39BC0935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38500"/>
            <a:ext cx="3619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BA383-9B95-4EA3-A393-FE99445E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528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A595C-524C-4D77-92EE-9161BF9D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3619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8A444-C671-4199-AB4A-DE0BB6ED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752600" cy="17716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24E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B1733-7D8B-49E9-B923-FCF49433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4E0C2"/>
                </a:solidFill>
              </a:defRPr>
            </a:pPr>
            <a:r>
              <a:rPr sz="1350" b="1">
                <a:solidFill>
                  <a:srgbClr val="24E0C2"/>
                </a:solidFill>
              </a:rPr>
              <a:t>SOURCE CHAINS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187B0-97ED-451A-B364-D02EA882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2FBFF"/>
                </a:solidFill>
              </a:defRPr>
            </a:pPr>
            <a:r>
              <a:rPr sz="1350" b="1">
                <a:solidFill>
                  <a:srgbClr val="F2FBFF"/>
                </a:solidFill>
              </a:rPr>
              <a:t>Events stay on</a:t>
            </a:r>
          </a:p>
          <a:p xmlns:a="http://schemas.openxmlformats.org/drawingml/2006/main">
            <a:pPr>
              <a:buNone/>
              <a:defRPr sz="1350" b="1">
                <a:solidFill>
                  <a:srgbClr val="F2FBFF"/>
                </a:solidFill>
              </a:defRPr>
            </a:pPr>
            <a:r>
              <a:rPr sz="1350" b="1">
                <a:solidFill>
                  <a:srgbClr val="F2FBFF"/>
                </a:solidFill>
              </a:rPr>
              <a:t>the source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7B52D-1970-4016-B7A9-FC284696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76500"/>
            <a:ext cx="1752600" cy="17716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13E6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1F742-F551-4914-94CF-45775372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860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E6FF"/>
                </a:solidFill>
              </a:defRPr>
            </a:pPr>
            <a:r>
              <a:rPr sz="1350" b="1">
                <a:solidFill>
                  <a:srgbClr val="13E6FF"/>
                </a:solidFill>
              </a:rPr>
              <a:t>ATTESTCOIN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E8ECF-184B-4591-878A-ABA7D7BA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2FBFF"/>
                </a:solidFill>
              </a:defRPr>
            </a:pPr>
            <a:r>
              <a:rPr sz="1350" b="1">
                <a:solidFill>
                  <a:srgbClr val="F2FBFF"/>
                </a:solidFill>
              </a:rPr>
              <a:t>Independent attestors</a:t>
            </a:r>
          </a:p>
          <a:p xmlns:a="http://schemas.openxmlformats.org/drawingml/2006/main">
            <a:pPr>
              <a:buNone/>
              <a:defRPr sz="1350" b="1">
                <a:solidFill>
                  <a:srgbClr val="F2FBFF"/>
                </a:solidFill>
              </a:defRPr>
            </a:pPr>
            <a:r>
              <a:rPr sz="1350" b="1">
                <a:solidFill>
                  <a:srgbClr val="F2FBFF"/>
                </a:solidFill>
              </a:rPr>
              <a:t>Merkle + continuity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7162F-5B06-40DD-B348-C463E67B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1752600" cy="17716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58F2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1E9E89-F4DB-4565-BC7B-4C625107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8F28B"/>
                </a:solidFill>
              </a:defRPr>
            </a:pPr>
            <a:r>
              <a:rPr sz="1350" b="1">
                <a:solidFill>
                  <a:srgbClr val="58F28B"/>
                </a:solidFill>
              </a:rPr>
              <a:t>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9137C-6C1E-4726-8293-DC79FB00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2FBFF"/>
                </a:solidFill>
              </a:defRPr>
            </a:pPr>
            <a:r>
              <a:rPr sz="1350" b="1">
                <a:solidFill>
                  <a:srgbClr val="F2FBFF"/>
                </a:solidFill>
              </a:rPr>
              <a:t>Verified inclusion</a:t>
            </a:r>
          </a:p>
          <a:p xmlns:a="http://schemas.openxmlformats.org/drawingml/2006/main">
            <a:pPr>
              <a:buNone/>
              <a:defRPr sz="1350" b="1">
                <a:solidFill>
                  <a:srgbClr val="F2FBFF"/>
                </a:solidFill>
              </a:defRPr>
            </a:pPr>
            <a:r>
              <a:rPr sz="1350" b="1">
                <a:solidFill>
                  <a:srgbClr val="F2FBFF"/>
                </a:solidFill>
              </a:rPr>
              <a:t>no bridge custody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E0F85F-FDB5-4AC4-A161-D5A9CCC0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76500"/>
            <a:ext cx="1752600" cy="17716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A87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75491-7B2E-4174-951E-168127AE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875FF"/>
                </a:solidFill>
              </a:defRPr>
            </a:pPr>
            <a:r>
              <a:rPr sz="1350" b="1">
                <a:solidFill>
                  <a:srgbClr val="A875FF"/>
                </a:solidFill>
              </a:rPr>
              <a:t>8 AGENTS + RAG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BEBDA3-3B80-42B6-B75D-6BA17C9D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2FBFF"/>
                </a:solidFill>
              </a:defRPr>
            </a:pPr>
            <a:r>
              <a:rPr sz="1350" b="1">
                <a:solidFill>
                  <a:srgbClr val="F2FBFF"/>
                </a:solidFill>
              </a:rPr>
              <a:t>Cited analysis</a:t>
            </a:r>
          </a:p>
          <a:p xmlns:a="http://schemas.openxmlformats.org/drawingml/2006/main">
            <a:pPr>
              <a:buNone/>
              <a:defRPr sz="1350" b="1">
                <a:solidFill>
                  <a:srgbClr val="F2FBFF"/>
                </a:solidFill>
              </a:defRPr>
            </a:pPr>
            <a:r>
              <a:rPr sz="1350" b="1">
                <a:solidFill>
                  <a:srgbClr val="F2FBFF"/>
                </a:solidFill>
              </a:rPr>
              <a:t>and challenges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4CF290-E9DF-4244-8FDA-ECA428C4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1752600" cy="17716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FFBE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722023-5B97-4EF9-94FD-315F53A2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860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E3D"/>
                </a:solidFill>
              </a:defRPr>
            </a:pPr>
            <a:r>
              <a:rPr sz="1350" b="1">
                <a:solidFill>
                  <a:srgbClr val="FFBE3D"/>
                </a:solidFill>
              </a:rPr>
              <a:t>DAO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3F17D-67EF-43B1-B158-D37162AE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2FBFF"/>
                </a:solidFill>
              </a:defRPr>
            </a:pPr>
            <a:r>
              <a:rPr sz="1350" b="1">
                <a:solidFill>
                  <a:srgbClr val="F2FBFF"/>
                </a:solidFill>
              </a:rPr>
              <a:t>Governor · Timelock</a:t>
            </a:r>
          </a:p>
          <a:p xmlns:a="http://schemas.openxmlformats.org/drawingml/2006/main">
            <a:pPr>
              <a:buNone/>
              <a:defRPr sz="1350" b="1">
                <a:solidFill>
                  <a:srgbClr val="F2FBFF"/>
                </a:solidFill>
              </a:defRPr>
            </a:pPr>
            <a:r>
              <a:rPr sz="1350" b="1">
                <a:solidFill>
                  <a:srgbClr val="F2FBFF"/>
                </a:solidFill>
              </a:rPr>
              <a:t>Guard · Outcome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01F4C7-52BE-47C6-92FE-DA7EAE9D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8EB2C5"/>
                </a:solidFill>
              </a:defRPr>
            </a:pPr>
            <a:r>
              <a:rPr sz="1650" b="1">
                <a:solidFill>
                  <a:srgbClr val="8EB2C5"/>
                </a:solidFill>
              </a:rPr>
              <a:t>anti-forgery proof  ·  continuity freshness  ·  replay-safe lineage  ·  tenant isolation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4BF94F-F9B1-4707-8953-1E856BA4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530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FF5F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3371BD-F1DA-4229-8598-5E384C7D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197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5F6D"/>
                </a:solidFill>
              </a:defRPr>
            </a:pPr>
            <a:r>
              <a:rPr sz="1050" b="1">
                <a:solidFill>
                  <a:srgbClr val="FF5F6D"/>
                </a:solidFill>
              </a:rPr>
              <a:t>NO BRIDGE CUSTODY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7FED0B-0E58-43AF-9B99-15D3B4F6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53050"/>
            <a:ext cx="2152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FF5F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096C4E-A196-481D-A0EB-4D0F5ED0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1972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5F6D"/>
                </a:solidFill>
              </a:defRPr>
            </a:pPr>
            <a:r>
              <a:rPr sz="1050" b="1">
                <a:solidFill>
                  <a:srgbClr val="FF5F6D"/>
                </a:solidFill>
              </a:rPr>
              <a:t>NO ORACLE OPERATOR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A206D8-17EE-4A15-9886-6BD0FD46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53050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FFBE3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C5CFA0-DFCA-4AE5-8399-FD706CC9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19725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BE3D"/>
                </a:solidFill>
              </a:defRPr>
            </a:pPr>
            <a:r>
              <a:rPr sz="1050" b="1">
                <a:solidFill>
                  <a:srgbClr val="FFBE3D"/>
                </a:solidFill>
              </a:rPr>
              <a:t>NO AI SIGNER</a:t>
            </a:r>
          </a:p>
        </p:txBody>
      </p:sp>
    </p:spTree>
    <p:extLst>
      <p:ext uri="{BB962C8B-B14F-4D97-AF65-F5344CB8AC3E}">
        <p14:creationId xmlns:p14="http://schemas.microsoft.com/office/powerpoint/2010/main" val="382791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43F343-3627-4878-AAE8-9B6E52B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651D6-B550-47A3-9EE4-EF3EAF21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3E6FF"/>
                </a:solidFill>
              </a:defRPr>
            </a:pPr>
            <a:r>
              <a:rPr sz="1125" b="1">
                <a:solidFill>
                  <a:srgbClr val="13E6FF"/>
                </a:solidFill>
              </a:rPr>
              <a:t>LIVE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A493C-F3DB-4992-B9E3-A42CD153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8EB2C5"/>
                </a:solidFill>
              </a:defRPr>
            </a:pPr>
            <a:r>
              <a:rPr sz="1125" b="1">
                <a:solidFill>
                  <a:srgbClr val="8EB2C5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EA06C-33EC-4D23-B25C-4C88BB31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2FBFF"/>
                </a:solidFill>
              </a:defRPr>
            </a:pPr>
            <a:r>
              <a:rPr sz="2850" b="1">
                <a:solidFill>
                  <a:srgbClr val="F2FBFF"/>
                </a:solidFill>
              </a:rPr>
              <a:t>The demo is anchored in canonical testnet transactions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9B644-4519-4500-947E-4AB07507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One project-owned source sample completed the full 11-step proof-to-anchor route.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0273B-0A6C-407F-B221-D2B06C0F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97EB9-C268-409B-96FA-12D24135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EB2C5"/>
                </a:solidFill>
              </a:defRPr>
            </a:pPr>
            <a:r>
              <a:rPr sz="900" b="1">
                <a:solidFill>
                  <a:srgbClr val="8EB2C5"/>
                </a:solidFill>
              </a:rPr>
              <a:t>EVIDENCE FIRST   |   DAO IN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7ABF5-4237-48C8-8BF6-8A9C3AE3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4E0C2"/>
                </a:solidFill>
              </a:defRPr>
            </a:pPr>
            <a:r>
              <a:rPr sz="1650" b="1">
                <a:solidFill>
                  <a:srgbClr val="24E0C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82A8C-EFFB-47C5-B8D6-E70703D8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E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74EAC-64EB-4F53-956D-3314E29F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431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2FBFF"/>
                </a:solidFill>
              </a:defRPr>
            </a:pPr>
            <a:r>
              <a:rPr sz="1650" b="1">
                <a:solidFill>
                  <a:srgbClr val="F2FBFF"/>
                </a:solidFill>
              </a:rPr>
              <a:t>Sepolia 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8ABD0-E2D9-4153-A6ED-B4DE905F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E0C2"/>
                </a:solidFill>
              </a:defRPr>
            </a:pPr>
            <a:r>
              <a:rPr sz="1500" b="1">
                <a:solidFill>
                  <a:srgbClr val="24E0C2"/>
                </a:solidFill>
              </a:rPr>
              <a:t>0xf035…abab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54DF0-2FB3-44C5-A982-1F76ECFC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E6FF"/>
                </a:solidFill>
              </a:defRPr>
            </a:pPr>
            <a:r>
              <a:rPr sz="1650" b="1">
                <a:solidFill>
                  <a:srgbClr val="13E6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938C2-24D9-4A6E-9C05-05D5D6A0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146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E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0A262-A9D8-4B46-ADC0-3A4044D5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860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2FBFF"/>
                </a:solidFill>
              </a:defRPr>
            </a:pPr>
            <a:r>
              <a:rPr sz="1650" b="1">
                <a:solidFill>
                  <a:srgbClr val="F2FBFF"/>
                </a:solidFill>
              </a:rPr>
              <a:t>Creditcoin verifyAndEmit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DCA82-C8BF-468E-9D78-D5F877E1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860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E6FF"/>
                </a:solidFill>
              </a:defRPr>
            </a:pPr>
            <a:r>
              <a:rPr sz="1500" b="1">
                <a:solidFill>
                  <a:srgbClr val="13E6FF"/>
                </a:solidFill>
              </a:rPr>
              <a:t>0x1011…b860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47AC4-F691-4024-A255-DC8CD546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58F28B"/>
                </a:solidFill>
              </a:defRPr>
            </a:pPr>
            <a:r>
              <a:rPr sz="1650" b="1">
                <a:solidFill>
                  <a:srgbClr val="58F28B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E20F8-6303-4387-B12A-11FB8145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F2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664B7-01AB-4B2A-86BF-4C3E1A5D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290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2FBFF"/>
                </a:solidFill>
              </a:defRPr>
            </a:pPr>
            <a:r>
              <a:rPr sz="1650" b="1">
                <a:solidFill>
                  <a:srgbClr val="F2FBFF"/>
                </a:solidFill>
              </a:rPr>
              <a:t>Immutable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34F04-9E8B-4D55-B952-2ABA1C1F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290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8F28B"/>
                </a:solidFill>
              </a:defRPr>
            </a:pPr>
            <a:r>
              <a:rPr sz="1500" b="1">
                <a:solidFill>
                  <a:srgbClr val="58F28B"/>
                </a:solidFill>
              </a:rPr>
              <a:t>ev_aa0b…60bf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48D4C-E2B3-49AA-8882-E480CBD4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A875FF"/>
                </a:solidFill>
              </a:defRPr>
            </a:pPr>
            <a:r>
              <a:rPr sz="1650" b="1">
                <a:solidFill>
                  <a:srgbClr val="A875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7C550-C04B-48A8-9369-6867210F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005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7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580CA-2C02-441B-A0D3-1F0BC3A2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719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2FBFF"/>
                </a:solidFill>
              </a:defRPr>
            </a:pPr>
            <a:r>
              <a:rPr sz="1650" b="1">
                <a:solidFill>
                  <a:srgbClr val="F2FBFF"/>
                </a:solidFill>
              </a:rPr>
              <a:t>Eight-Agent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41CBD-DEE7-4170-8FB9-616E8749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719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A875FF"/>
                </a:solidFill>
              </a:defRPr>
            </a:pPr>
            <a:r>
              <a:rPr sz="1500" b="1">
                <a:solidFill>
                  <a:srgbClr val="A875FF"/>
                </a:solidFill>
              </a:rPr>
              <a:t>decision_a9a3…b8ed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8A7ED-4DFB-49D5-AB52-B120797B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BE3D"/>
                </a:solidFill>
              </a:defRPr>
            </a:pPr>
            <a:r>
              <a:rPr sz="1650" b="1">
                <a:solidFill>
                  <a:srgbClr val="FFBE3D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3D416B-643E-453B-8796-533DDB2C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4352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BE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C7462E-1872-452C-AF0F-B1558B51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149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2FBFF"/>
                </a:solidFill>
              </a:defRPr>
            </a:pPr>
            <a:r>
              <a:rPr sz="1650" b="1">
                <a:solidFill>
                  <a:srgbClr val="F2FBFF"/>
                </a:solidFill>
              </a:rPr>
              <a:t>EvidenceAnchorASC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E2601-B3D3-4ACC-9C22-441380EC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149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BE3D"/>
                </a:solidFill>
              </a:defRPr>
            </a:pPr>
            <a:r>
              <a:rPr sz="1500" b="1">
                <a:solidFill>
                  <a:srgbClr val="FFBE3D"/>
                </a:solidFill>
              </a:rPr>
              <a:t>0x181a…9731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E6B6C0-03A4-4949-950A-907C9176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88645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58F28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CF662A-3878-4EF8-9C71-7F64EE8F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531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8F28B"/>
                </a:solidFill>
              </a:defRPr>
            </a:pPr>
            <a:r>
              <a:rPr sz="1050" b="1">
                <a:solidFill>
                  <a:srgbClr val="58F28B"/>
                </a:solidFill>
              </a:rPr>
              <a:t>ZERO NATIVE VALUE</a:t>
            </a:r>
          </a:p>
        </p:txBody>
      </p:sp>
    </p:spTree>
    <p:extLst>
      <p:ext uri="{BB962C8B-B14F-4D97-AF65-F5344CB8AC3E}">
        <p14:creationId xmlns:p14="http://schemas.microsoft.com/office/powerpoint/2010/main" val="8748779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51157-008F-497A-B8FF-65BA4E49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74D16-08EE-48D9-BB08-C5CAE56B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3E6FF"/>
                </a:solidFill>
              </a:defRPr>
            </a:pPr>
            <a:r>
              <a:rPr sz="1125" b="1">
                <a:solidFill>
                  <a:srgbClr val="13E6FF"/>
                </a:solidFill>
              </a:rPr>
              <a:t>AI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19254-474B-4993-B5FE-5835901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8EB2C5"/>
                </a:solidFill>
              </a:defRPr>
            </a:pPr>
            <a:r>
              <a:rPr sz="1125" b="1">
                <a:solidFill>
                  <a:srgbClr val="8EB2C5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12042-DCEE-44AE-AA16-35CEAD4A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2FBFF"/>
                </a:solidFill>
              </a:defRPr>
            </a:pPr>
            <a:r>
              <a:rPr sz="2850" b="1">
                <a:solidFill>
                  <a:srgbClr val="F2FBFF"/>
                </a:solidFill>
              </a:rPr>
              <a:t>Evidence expands reasoning without inventing a trade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A5783-5845-421D-ADC4-53FFB3AD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New facts change what each role may claim; they do not force a theatrical position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45FAC-520C-4FEE-B4BF-3F2EE582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81D4D-26D5-481B-B71B-45D986A4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EB2C5"/>
                </a:solidFill>
              </a:defRPr>
            </a:pPr>
            <a:r>
              <a:rPr sz="900" b="1">
                <a:solidFill>
                  <a:srgbClr val="8EB2C5"/>
                </a:solidFill>
              </a:rPr>
              <a:t>EVIDENCE FIRST   |   DAO IN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F4801-03DD-4129-AC60-E4655DED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3147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24E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9F02C-5FB7-4BC1-9BA0-3C9342B3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4E0C2"/>
                </a:solidFill>
              </a:defRPr>
            </a:pPr>
            <a:r>
              <a:rPr sz="1200" b="1">
                <a:solidFill>
                  <a:srgbClr val="24E0C2"/>
                </a:solidFill>
              </a:rPr>
              <a:t>TRANSFER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188EF-3098-49A6-9E94-F058A4BE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2FBFF"/>
                </a:solidFill>
              </a:defRPr>
            </a:pPr>
            <a:r>
              <a:rPr sz="1800" b="1">
                <a:solidFill>
                  <a:srgbClr val="F2FBFF"/>
                </a:solidFill>
              </a:rPr>
              <a:t>Verified inflow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A030B-E5DA-4246-A1BE-82F6EC75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4E0C2"/>
                </a:solidFill>
              </a:defRPr>
            </a:pPr>
            <a:r>
              <a:rPr sz="2250" b="1">
                <a:solidFill>
                  <a:srgbClr val="24E0C2"/>
                </a:solidFill>
              </a:rPr>
              <a:t>HOLD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32C44-818F-4D5E-9025-8293A1D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EB2C5"/>
                </a:solidFill>
              </a:defRPr>
            </a:pPr>
            <a:r>
              <a:rPr sz="1275" b="0">
                <a:solidFill>
                  <a:srgbClr val="8EB2C5"/>
                </a:solidFill>
              </a:rPr>
              <a:t>Current state unknown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89087-CF87-4637-A209-B603243D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86000"/>
            <a:ext cx="33147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13E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E72F1-DFD1-46E1-81D5-6EA8E56F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95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3E6FF"/>
                </a:solidFill>
              </a:defRPr>
            </a:pPr>
            <a:r>
              <a:rPr sz="1200" b="1">
                <a:solidFill>
                  <a:srgbClr val="13E6FF"/>
                </a:solidFill>
              </a:rPr>
              <a:t>+ BALANCE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709B0-B422-40C6-95BD-A15C955C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099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2FBFF"/>
                </a:solidFill>
              </a:defRPr>
            </a:pPr>
            <a:r>
              <a:rPr sz="1800" b="1">
                <a:solidFill>
                  <a:srgbClr val="F2FBFF"/>
                </a:solidFill>
              </a:rPr>
              <a:t>20 USDC at one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8C794-91BC-427A-9ECB-F5525DF1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29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E6FF"/>
                </a:solidFill>
              </a:defRPr>
            </a:pPr>
            <a:r>
              <a:rPr sz="2250" b="1">
                <a:solidFill>
                  <a:srgbClr val="13E6FF"/>
                </a:solidFill>
              </a:rPr>
              <a:t>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C6F66-47E9-449B-97CF-85E6366E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43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EB2C5"/>
                </a:solidFill>
              </a:defRPr>
            </a:pPr>
            <a:r>
              <a:rPr sz="1275" b="0">
                <a:solidFill>
                  <a:srgbClr val="8EB2C5"/>
                </a:solidFill>
              </a:rPr>
              <a:t>Freshness window expired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D2DF3-0701-4F06-902A-6E2DA8B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3147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A87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4FFF6-CCA7-4573-A9EB-DE7F5C52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875FF"/>
                </a:solidFill>
              </a:defRPr>
            </a:pPr>
            <a:r>
              <a:rPr sz="1200" b="1">
                <a:solidFill>
                  <a:srgbClr val="A875FF"/>
                </a:solidFill>
              </a:rPr>
              <a:t>+ MARKET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C6C66-11AB-4A62-99E1-90276BAC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2FBFF"/>
                </a:solidFill>
              </a:defRPr>
            </a:pPr>
            <a:r>
              <a:rPr sz="1800" b="1">
                <a:solidFill>
                  <a:srgbClr val="F2FBFF"/>
                </a:solidFill>
              </a:rPr>
              <a:t>Price · liquidity · authority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DC9C7-B311-4304-B4AA-A034BED6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A875FF"/>
                </a:solidFill>
              </a:defRPr>
            </a:pPr>
            <a:r>
              <a:rPr sz="2250" b="1">
                <a:solidFill>
                  <a:srgbClr val="A875FF"/>
                </a:solidFill>
              </a:rPr>
              <a:t>CONDITIONAL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4F2DE-7F64-4DE2-A65D-95F87B42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43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EB2C5"/>
                </a:solidFill>
              </a:defRPr>
            </a:pPr>
            <a:r>
              <a:rPr sz="1275" b="0">
                <a:solidFill>
                  <a:srgbClr val="8EB2C5"/>
                </a:solidFill>
              </a:rPr>
              <a:t>Next proof-backed contrast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D8AD4-3038-4031-A991-61933252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8EB2C5"/>
                </a:solidFill>
              </a:defRPr>
            </a:pPr>
            <a:r>
              <a:rPr sz="1500" b="1">
                <a:solidFill>
                  <a:srgbClr val="8EB2C5"/>
                </a:solidFill>
              </a:rPr>
              <a:t>8/8 roles cite the new balance Evidence · exact RAG bundle inherited · Risk and Compliance still challenge</a:t>
            </a:r>
          </a:p>
        </p:txBody>
      </p:sp>
    </p:spTree>
    <p:extLst>
      <p:ext uri="{BB962C8B-B14F-4D97-AF65-F5344CB8AC3E}">
        <p14:creationId xmlns:p14="http://schemas.microsoft.com/office/powerpoint/2010/main" val="15965742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B38BE-790A-4F18-9A5C-8B11288C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0D897-4C17-4723-94CF-7E8CE0EA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3E6FF"/>
                </a:solidFill>
              </a:defRPr>
            </a:pPr>
            <a:r>
              <a:rPr sz="1125" b="1">
                <a:solidFill>
                  <a:srgbClr val="13E6FF"/>
                </a:solidFill>
              </a:rPr>
              <a:t>DAO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9CF8F-8462-4F30-BA68-8E92125A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8EB2C5"/>
                </a:solidFill>
              </a:defRPr>
            </a:pPr>
            <a:r>
              <a:rPr sz="1125" b="1">
                <a:solidFill>
                  <a:srgbClr val="8EB2C5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C0FBF-D36D-4EB2-8310-637632C0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2FBFF"/>
                </a:solidFill>
              </a:defRPr>
            </a:pPr>
            <a:r>
              <a:rPr sz="2850" b="1">
                <a:solidFill>
                  <a:srgbClr val="F2FBFF"/>
                </a:solidFill>
              </a:rPr>
              <a:t>A cited Decision can trigger governance—but never bypass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EFC13-7A84-4E0E-9B1A-DFA91141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DFD21-A450-450C-9C7C-457079AE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EB2C5"/>
                </a:solidFill>
              </a:defRPr>
            </a:pPr>
            <a:r>
              <a:rPr sz="900" b="1">
                <a:solidFill>
                  <a:srgbClr val="8EB2C5"/>
                </a:solidFill>
              </a:rPr>
              <a:t>EVIDENCE FIRST   |   DAO IN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DBE0C-ED6A-40E1-A01A-23A89A25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09925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5015F-9E33-4D9B-91B1-2722C25C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16383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A87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13547-170D-46B8-BB2A-E711EF49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875FF"/>
                </a:solidFill>
              </a:defRPr>
            </a:pPr>
            <a:r>
              <a:rPr sz="1200" b="1">
                <a:solidFill>
                  <a:srgbClr val="A875FF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B890E-10AE-4392-BC66-5222DB20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09925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8698B-54EE-4130-A290-69977748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81300"/>
            <a:ext cx="16383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13E6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4A229-2412-4696-9996-F3CFF994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3E6FF"/>
                </a:solidFill>
              </a:defRPr>
            </a:pPr>
            <a:r>
              <a:rPr sz="1200" b="1">
                <a:solidFill>
                  <a:srgbClr val="13E6FF"/>
                </a:solidFill>
              </a:rPr>
              <a:t>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163B7-6CBD-4DD6-B0FA-2B1C82E4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52232-D642-40A4-A69D-BB165CE7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81300"/>
            <a:ext cx="16383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24E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F0B9F-ACEA-480F-9B88-9A953C83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4E0C2"/>
                </a:solidFill>
              </a:defRPr>
            </a:pPr>
            <a:r>
              <a:rPr sz="1200" b="1">
                <a:solidFill>
                  <a:srgbClr val="24E0C2"/>
                </a:solidFill>
              </a:rPr>
              <a:t>VOTE / QUORUM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D9D37-2700-44DD-81BB-8B6CB9EC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9925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AF38E-B202-4542-8378-4C4C1B21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16383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FFBE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78F2B-EAC1-4D1A-9CF2-7A354103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432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BE3D"/>
                </a:solidFill>
              </a:defRPr>
            </a:pPr>
            <a:r>
              <a:rPr sz="1200" b="1">
                <a:solidFill>
                  <a:srgbClr val="FFBE3D"/>
                </a:solidFill>
              </a:rPr>
              <a:t>TIMELOCK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76DAD-050D-4AB1-9C36-E548C4C9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16383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58F2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67E9D-0805-46B5-A569-77E40BB3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8F28B"/>
                </a:solidFill>
              </a:defRPr>
            </a:pPr>
            <a:r>
              <a:rPr sz="1200" b="1">
                <a:solidFill>
                  <a:srgbClr val="58F28B"/>
                </a:solidFill>
              </a:rPr>
              <a:t>GUARD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35050-1F22-4D52-B2F6-DB4707BE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E3D"/>
                </a:solidFill>
              </a:defRPr>
            </a:pPr>
            <a:r>
              <a:rPr sz="1350" b="1">
                <a:solidFill>
                  <a:srgbClr val="FFBE3D"/>
                </a:solidFill>
              </a:rPr>
              <a:t>LIVE ATTEMPT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F97A6E-136A-418B-89EA-6F11DEFA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2FBFF"/>
                </a:solidFill>
              </a:defRPr>
            </a:pPr>
            <a:r>
              <a:rPr sz="1725" b="1">
                <a:solidFill>
                  <a:srgbClr val="F2FBFF"/>
                </a:solidFill>
              </a:rPr>
              <a:t>1,000,000 FOR  ·  40,000 QUORUM  ·  60s TIMELOCK  ·  PauseChanged(true)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A5C7F-68FB-47DF-B11E-F18A5662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8EB2C5"/>
                </a:solidFill>
              </a:defRPr>
            </a:pPr>
            <a:r>
              <a:rPr sz="1575" b="0">
                <a:solidFill>
                  <a:srgbClr val="8EB2C5"/>
                </a:solidFill>
              </a:rPr>
              <a:t>Outcome: deterministic withholding. Zero asset movement. No PolicyRegistry mutation.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6CC97-2DBA-4C76-98D7-39600F28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38800"/>
            <a:ext cx="3162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FF5F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4ECE4-2D57-424D-9AB0-4A5BF7EF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0547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5F6D"/>
                </a:solidFill>
              </a:defRPr>
            </a:pPr>
            <a:r>
              <a:rPr sz="1050" b="1">
                <a:solidFill>
                  <a:srgbClr val="FF5F6D"/>
                </a:solidFill>
              </a:rPr>
              <a:t>assetExecutionAuthorized = false</a:t>
            </a:r>
          </a:p>
        </p:txBody>
      </p:sp>
    </p:spTree>
    <p:extLst>
      <p:ext uri="{BB962C8B-B14F-4D97-AF65-F5344CB8AC3E}">
        <p14:creationId xmlns:p14="http://schemas.microsoft.com/office/powerpoint/2010/main" val="1181821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6F613-62D1-415D-858C-464AEE30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5408E-78F1-4AC0-B6BE-81884599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3E6FF"/>
                </a:solidFill>
              </a:defRPr>
            </a:pPr>
            <a:r>
              <a:rPr sz="1125" b="1">
                <a:solidFill>
                  <a:srgbClr val="13E6FF"/>
                </a:solidFill>
              </a:rPr>
              <a:t>EVIDENCE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ABE41-6809-4BB1-B828-6011BBF7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8EB2C5"/>
                </a:solidFill>
              </a:defRPr>
            </a:pPr>
            <a:r>
              <a:rPr sz="1125" b="1">
                <a:solidFill>
                  <a:srgbClr val="8EB2C5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02D4C-E464-41CE-828E-F6E1A7D4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2FBFF"/>
                </a:solidFill>
              </a:defRPr>
            </a:pPr>
            <a:r>
              <a:rPr sz="2850" b="1">
                <a:solidFill>
                  <a:srgbClr val="F2FBFF"/>
                </a:solidFill>
              </a:rPr>
              <a:t>Three live facts support one auditable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C2D68-08B0-43B9-844F-61D33828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Every fact remains narrow; duplicates and failed attempts stay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CF38B-2614-47AB-9332-A3CA2AC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07A0A-8091-4C54-8080-435FBB02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EB2C5"/>
                </a:solidFill>
              </a:defRPr>
            </a:pPr>
            <a:r>
              <a:rPr sz="900" b="1">
                <a:solidFill>
                  <a:srgbClr val="8EB2C5"/>
                </a:solidFill>
              </a:rPr>
              <a:t>EVIDENCE FIRST   |   DAO IN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2EB82-650D-4120-A5E2-88630126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E6FF"/>
                </a:solidFill>
              </a:defRPr>
            </a:pPr>
            <a:r>
              <a:rPr sz="1350" b="1">
                <a:solidFill>
                  <a:srgbClr val="13E6FF"/>
                </a:solidFill>
              </a:rPr>
              <a:t>PROOF-TO-ANCHOR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BBB0A-2104-4BD0-9C43-9718A844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907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2FBFF"/>
                </a:solidFill>
              </a:defRPr>
            </a:pPr>
            <a:r>
              <a:rPr sz="1725" b="1">
                <a:solidFill>
                  <a:srgbClr val="F2FBFF"/>
                </a:solidFill>
              </a:rPr>
              <a:t>Source inclusion → Evidence → Decision → ASC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2A8FB-D651-455F-9E2C-708FB2D4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E6FF"/>
                </a:solidFill>
              </a:defRPr>
            </a:pPr>
            <a:r>
              <a:rPr sz="1275" b="1">
                <a:solidFill>
                  <a:srgbClr val="13E6FF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62370-3AAF-4BBD-AB55-518E8136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E0917-1312-43B2-9FE5-E9F84EE4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4E0C2"/>
                </a:solidFill>
              </a:defRPr>
            </a:pPr>
            <a:r>
              <a:rPr sz="1350" b="1">
                <a:solidFill>
                  <a:srgbClr val="24E0C2"/>
                </a:solidFill>
              </a:rPr>
              <a:t>USDC INFLOW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6B801-9E35-4431-99ED-5DF36AC6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909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2FBFF"/>
                </a:solidFill>
              </a:defRPr>
            </a:pPr>
            <a:r>
              <a:rPr sz="1725" b="1">
                <a:solidFill>
                  <a:srgbClr val="F2FBFF"/>
                </a:solidFill>
              </a:rPr>
              <a:t>20 test USDC transfer at block 11,561,243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9FF69-1534-485D-9974-A4B4E487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9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4E0C2"/>
                </a:solidFill>
              </a:defRPr>
            </a:pPr>
            <a:r>
              <a:rPr sz="1275" b="1">
                <a:solidFill>
                  <a:srgbClr val="24E0C2"/>
                </a:solidFill>
              </a:rPr>
              <a:t>VERIFIED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07C28-2BBA-4772-A7AD-56C43FC6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6C3D6-AD98-4BFE-8A0A-D1D45703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E3D"/>
                </a:solidFill>
              </a:defRPr>
            </a:pPr>
            <a:r>
              <a:rPr sz="1350" b="1">
                <a:solidFill>
                  <a:srgbClr val="FFBE3D"/>
                </a:solidFill>
              </a:rPr>
              <a:t>BALANCE OBSERVER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E5A95-D2D7-4945-8FD1-3B7A1D68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2FBFF"/>
                </a:solidFill>
              </a:defRPr>
            </a:pPr>
            <a:r>
              <a:rPr sz="1725" b="1">
                <a:solidFill>
                  <a:srgbClr val="F2FBFF"/>
                </a:solidFill>
              </a:rPr>
              <a:t>20 test USDC at block 11,564,181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DA3EC-F029-4E6B-8D32-7D0F306B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10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BE3D"/>
                </a:solidFill>
              </a:defRPr>
            </a:pPr>
            <a:r>
              <a:rPr sz="1275" b="1">
                <a:solidFill>
                  <a:srgbClr val="FFBE3D"/>
                </a:solidFill>
              </a:rPr>
              <a:t>VERIFIED · STALE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CBFAB-961F-4B2B-BA4B-47C0BEB2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7BE8B-C609-46EC-8C01-411F8A5B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5F6D"/>
                </a:solidFill>
              </a:defRPr>
            </a:pPr>
            <a:r>
              <a:rPr sz="1200" b="1">
                <a:solidFill>
                  <a:srgbClr val="FF5F6D"/>
                </a:solidFill>
              </a:rPr>
              <a:t>Truth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DF4E4-CC3D-465E-B8C5-D7D05419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53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8EB2C5"/>
                </a:solidFill>
              </a:defRPr>
            </a:pPr>
            <a:r>
              <a:rPr sz="1575" b="1">
                <a:solidFill>
                  <a:srgbClr val="8EB2C5"/>
                </a:solidFill>
              </a:rPr>
              <a:t>No price · no liquidity · no redemption claim · no causal performance claim</a:t>
            </a:r>
          </a:p>
        </p:txBody>
      </p:sp>
    </p:spTree>
    <p:extLst>
      <p:ext uri="{BB962C8B-B14F-4D97-AF65-F5344CB8AC3E}">
        <p14:creationId xmlns:p14="http://schemas.microsoft.com/office/powerpoint/2010/main" val="18585578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091A0-775C-4698-8371-1D16619F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9E008-C4BD-424E-B626-CE61A4A2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3E6FF"/>
                </a:solidFill>
              </a:defRPr>
            </a:pPr>
            <a:r>
              <a:rPr sz="1125" b="1">
                <a:solidFill>
                  <a:srgbClr val="13E6FF"/>
                </a:solidFill>
              </a:rPr>
              <a:t>ADOPTION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25BC7-DC2C-4194-9CA2-1BABD0ED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8EB2C5"/>
                </a:solidFill>
              </a:defRPr>
            </a:pPr>
            <a:r>
              <a:rPr sz="1125" b="1">
                <a:solidFill>
                  <a:srgbClr val="8EB2C5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F1975-305C-4F03-AD7A-C20BBC73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2FBFF"/>
                </a:solidFill>
              </a:defRPr>
            </a:pPr>
            <a:r>
              <a:rPr sz="2850" b="1">
                <a:solidFill>
                  <a:srgbClr val="F2FBFF"/>
                </a:solidFill>
              </a:rPr>
              <a:t>Verified DAO workflows create recurring Creditcoin 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E2CEA-9369-4564-8647-C30741A6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932B2-92C6-46D1-9BF6-FE8E30A7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EB2C5"/>
                </a:solidFill>
              </a:defRPr>
            </a:pPr>
            <a:r>
              <a:rPr sz="900" b="1">
                <a:solidFill>
                  <a:srgbClr val="8EB2C5"/>
                </a:solidFill>
              </a:rPr>
              <a:t>EVIDENCE FIRST   |   DAO IN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D270E-1A83-4572-ABB9-2A0BF16F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8F28B"/>
                </a:solidFill>
              </a:defRPr>
            </a:pPr>
            <a:r>
              <a:rPr sz="3000" b="1">
                <a:solidFill>
                  <a:srgbClr val="58F28B"/>
                </a:solidFill>
              </a:rPr>
              <a:t>DAO TEAMS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03559-4A3F-4AAB-92D7-7BD2242D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8EB2C5"/>
                </a:solidFill>
              </a:defRPr>
            </a:pPr>
            <a:r>
              <a:rPr sz="1425" b="1">
                <a:solidFill>
                  <a:srgbClr val="8EB2C5"/>
                </a:solidFill>
              </a:rPr>
              <a:t>Cross-chain 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5D0E0-6F87-4F29-89A6-40837845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383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8F28B"/>
                </a:solidFill>
              </a:defRPr>
            </a:pPr>
            <a:r>
              <a:rPr sz="3000" b="1">
                <a:solidFill>
                  <a:srgbClr val="58F28B"/>
                </a:solidFill>
              </a:rPr>
              <a:t>RISK TEAMS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4F038-EBA7-42CC-B496-0B06B4BC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289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8EB2C5"/>
                </a:solidFill>
              </a:defRPr>
            </a:pPr>
            <a:r>
              <a:rPr sz="1425" b="1">
                <a:solidFill>
                  <a:srgbClr val="8EB2C5"/>
                </a:solidFill>
              </a:rPr>
              <a:t>Cited challenges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599AD-F84C-4827-BDB1-EFD4CAE7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383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A875FF"/>
                </a:solidFill>
              </a:defRPr>
            </a:pPr>
            <a:r>
              <a:rPr sz="3000" b="1">
                <a:solidFill>
                  <a:srgbClr val="A875FF"/>
                </a:solidFill>
              </a:rPr>
              <a:t>ONCHAIN FUNDS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9BECA-3568-47E0-A526-FB7A9F9F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289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8EB2C5"/>
                </a:solidFill>
              </a:defRPr>
            </a:pPr>
            <a:r>
              <a:rPr sz="1425" b="1">
                <a:solidFill>
                  <a:srgbClr val="8EB2C5"/>
                </a:solidFill>
              </a:rPr>
              <a:t>Governed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DE440-0374-4252-A753-BF7CD6D0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A875FF"/>
                </a:solidFill>
              </a:defRPr>
            </a:pPr>
            <a:r>
              <a:rPr sz="3000" b="1">
                <a:solidFill>
                  <a:srgbClr val="A875FF"/>
                </a:solidFill>
              </a:rPr>
              <a:t>PROOF JOBS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7EC44-DA3B-4A04-A47B-DC78976F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8EB2C5"/>
                </a:solidFill>
              </a:defRPr>
            </a:pPr>
            <a:r>
              <a:rPr sz="1425" b="1">
                <a:solidFill>
                  <a:srgbClr val="8EB2C5"/>
                </a:solidFill>
              </a:rPr>
              <a:t>Attestcoin demand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08C6D-4D33-4509-9047-CB60ADFC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623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3E6FF"/>
                </a:solidFill>
              </a:defRPr>
            </a:pPr>
            <a:r>
              <a:rPr sz="3000" b="1">
                <a:solidFill>
                  <a:srgbClr val="13E6FF"/>
                </a:solidFill>
              </a:rPr>
              <a:t>GOV TXS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34C14-E7F3-4A07-B33E-DA4A149C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529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8EB2C5"/>
                </a:solidFill>
              </a:defRPr>
            </a:pPr>
            <a:r>
              <a:rPr sz="1425" b="1">
                <a:solidFill>
                  <a:srgbClr val="8EB2C5"/>
                </a:solidFill>
              </a:rPr>
              <a:t>Creditcoin activity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51E04-7193-4E83-922B-CC23C950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623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8F28B"/>
                </a:solidFill>
              </a:defRPr>
            </a:pPr>
            <a:r>
              <a:rPr sz="3000" b="1">
                <a:solidFill>
                  <a:srgbClr val="58F28B"/>
                </a:solidFill>
              </a:rPr>
              <a:t>AUDIT TRAIL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D7AFE-2EB1-4FD0-BA69-E25052CA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529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8EB2C5"/>
                </a:solidFill>
              </a:defRPr>
            </a:pPr>
            <a:r>
              <a:rPr sz="1425" b="1">
                <a:solidFill>
                  <a:srgbClr val="8EB2C5"/>
                </a:solidFill>
              </a:rPr>
              <a:t>Repeatable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E4CCC-B379-43AA-A372-15726C1D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4B8E3E-E08E-4540-8AD4-9A89E25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2FBFF"/>
                </a:solidFill>
              </a:defRPr>
            </a:pPr>
            <a:r>
              <a:rPr sz="1575" b="1">
                <a:solidFill>
                  <a:srgbClr val="F2FBFF"/>
                </a:solidFill>
              </a:rPr>
              <a:t>DISCOVERY OPEN  ·  2–3 PRACTITIONER INTERVIEWS TARGETED  ·  ZERO USERS OR PILOTS CLAIMED</a:t>
            </a:r>
          </a:p>
        </p:txBody>
      </p:sp>
    </p:spTree>
    <p:extLst>
      <p:ext uri="{BB962C8B-B14F-4D97-AF65-F5344CB8AC3E}">
        <p14:creationId xmlns:p14="http://schemas.microsoft.com/office/powerpoint/2010/main" val="8344265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00133-A495-4AAB-8665-3B31DCAC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D4FB3-CD67-401A-AAA2-D6105E7A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3E6FF"/>
                </a:solidFill>
              </a:defRPr>
            </a:pPr>
            <a:r>
              <a:rPr sz="1125" b="1">
                <a:solidFill>
                  <a:srgbClr val="13E6FF"/>
                </a:solidFill>
              </a:rPr>
              <a:t>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F1652-0749-489A-8AB3-F205DD9F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8EB2C5"/>
                </a:solidFill>
              </a:defRPr>
            </a:pPr>
            <a:r>
              <a:rPr sz="1125" b="1">
                <a:solidFill>
                  <a:srgbClr val="8EB2C5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26998-58F8-42ED-8A9B-28ECB6FB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2FBFF"/>
                </a:solidFill>
              </a:defRPr>
            </a:pPr>
            <a:r>
              <a:rPr sz="2850" b="1">
                <a:solidFill>
                  <a:srgbClr val="F2FBFF"/>
                </a:solidFill>
              </a:rPr>
              <a:t>A three-minute walkthrough follows one continuous decision lineage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CBC44-5597-4032-AE2A-FCE40EF9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F4882-5C5B-4E51-AEFA-A6645E77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EB2C5"/>
                </a:solidFill>
              </a:defRPr>
            </a:pPr>
            <a:r>
              <a:rPr sz="900" b="1">
                <a:solidFill>
                  <a:srgbClr val="8EB2C5"/>
                </a:solidFill>
              </a:rPr>
              <a:t>EVIDENCE FIRST   |   DAO IN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3CC1D-0C0C-4F47-AC11-0863FBC2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E6FF"/>
                </a:solidFill>
              </a:defRPr>
            </a:pPr>
            <a:r>
              <a:rPr sz="1350" b="1">
                <a:solidFill>
                  <a:srgbClr val="13E6FF"/>
                </a:solidFill>
              </a:rPr>
              <a:t>ACT 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AADEC-1E08-4363-A5F6-D8D0E322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90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2FBFF"/>
                </a:solidFill>
              </a:defRPr>
            </a:pPr>
            <a:r>
              <a:rPr sz="1950" b="1">
                <a:solidFill>
                  <a:srgbClr val="F2FBFF"/>
                </a:solidFill>
              </a:rPr>
              <a:t>ATTESTCOIN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7353D-5D2E-4C24-B072-AFC03244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098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Source event → stale proof rejected → fresh proof 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269E7-0B86-41EC-BC35-71669B55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90CED-E336-4396-B938-8E3E6A0B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875FF"/>
                </a:solidFill>
              </a:defRPr>
            </a:pPr>
            <a:r>
              <a:rPr sz="1350" b="1">
                <a:solidFill>
                  <a:srgbClr val="A875FF"/>
                </a:solidFill>
              </a:rPr>
              <a:t>ACT II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CDC2E-AFA7-462C-96E1-CA20090B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90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2FBFF"/>
                </a:solidFill>
              </a:defRPr>
            </a:pPr>
            <a:r>
              <a:rPr sz="1950" b="1">
                <a:solidFill>
                  <a:srgbClr val="F2FBFF"/>
                </a:solidFill>
              </a:rPr>
              <a:t>AI EXPLAINS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FEF4A-3D4F-43AF-AC36-94437A8F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099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Evidence → RAG → eight roles → challenges → 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9FAE1-6AE8-42EE-B8AE-633BDEB2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8C8AA-65D5-438C-9170-8DD476A9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E3D"/>
                </a:solidFill>
              </a:defRPr>
            </a:pPr>
            <a:r>
              <a:rPr sz="1350" b="1">
                <a:solidFill>
                  <a:srgbClr val="FFBE3D"/>
                </a:solidFill>
              </a:rPr>
              <a:t>ACT III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4CE64-A408-4830-A8A6-9596647D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91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2FBFF"/>
                </a:solidFill>
              </a:defRPr>
            </a:pPr>
            <a:r>
              <a:rPr sz="1950" b="1">
                <a:solidFill>
                  <a:srgbClr val="F2FBFF"/>
                </a:solidFill>
              </a:rPr>
              <a:t>DAO DECIDES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BABC2-C3CB-4586-ABD9-FC08F6BB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101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Proposal → vote → Timelock → Guard → Outcome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4A4E3-7736-4749-806E-F03AAE7D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AF4CE-3971-4B85-917E-42F2510C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58F2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D26F8-D008-4CC1-8AF7-7F1771B0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8769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8F28B"/>
                </a:solidFill>
              </a:defRPr>
            </a:pPr>
            <a:r>
              <a:rPr sz="1050" b="1">
                <a:solidFill>
                  <a:srgbClr val="58F28B"/>
                </a:solidFill>
              </a:rPr>
              <a:t>REAL TX LINKS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AFFF5-A725-4E3C-A1AD-BF97D53C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102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A87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162B8-C191-4471-BB4D-11B9BDC7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769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A875FF"/>
                </a:solidFill>
              </a:defRPr>
            </a:pPr>
            <a:r>
              <a:rPr sz="1050" b="1">
                <a:solidFill>
                  <a:srgbClr val="A875FF"/>
                </a:solidFill>
              </a:rPr>
              <a:t>CITED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59E00-9169-4AB8-AE26-5B29A956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81025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FFBE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B1433-A559-40DB-90D5-C66443A4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76925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BE3D"/>
                </a:solidFill>
              </a:defRPr>
            </a:pPr>
            <a:r>
              <a:rPr sz="1050" b="1">
                <a:solidFill>
                  <a:srgbClr val="FFBE3D"/>
                </a:solidFill>
              </a:rPr>
              <a:t>HUMAN CONFIRMATION</a:t>
            </a:r>
          </a:p>
        </p:txBody>
      </p:sp>
    </p:spTree>
    <p:extLst>
      <p:ext uri="{BB962C8B-B14F-4D97-AF65-F5344CB8AC3E}">
        <p14:creationId xmlns:p14="http://schemas.microsoft.com/office/powerpoint/2010/main" val="12634009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188D4-9B64-4827-BD6D-4AC77137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2F5E5-0C9D-462B-B2A4-4438C36F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3E6FF"/>
                </a:solidFill>
              </a:defRPr>
            </a:pPr>
            <a:r>
              <a:rPr sz="1125" b="1">
                <a:solidFill>
                  <a:srgbClr val="13E6FF"/>
                </a:solidFill>
              </a:rPr>
              <a:t>WHY AEOS / CEIP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E79AB-F188-4495-853A-ADFEBF25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8EB2C5"/>
                </a:solidFill>
              </a:defRPr>
            </a:pPr>
            <a:r>
              <a:rPr sz="1125" b="1">
                <a:solidFill>
                  <a:srgbClr val="8EB2C5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8BE6B-A5B1-4C45-9751-E3043609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2FBFF"/>
                </a:solidFill>
              </a:defRPr>
            </a:pPr>
            <a:r>
              <a:rPr sz="2850" b="1">
                <a:solidFill>
                  <a:srgbClr val="F2FBFF"/>
                </a:solidFill>
              </a:rPr>
              <a:t>Auditable AI governance for multi-chain treasuries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5C36A-81CE-4831-9A3D-A73EFD3A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6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1ADFF-7546-4DFF-A5DA-692A1892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EB2C5"/>
                </a:solidFill>
              </a:defRPr>
            </a:pPr>
            <a:r>
              <a:rPr sz="900" b="1">
                <a:solidFill>
                  <a:srgbClr val="8EB2C5"/>
                </a:solidFill>
              </a:rPr>
              <a:t>EVIDENCE FIRST   |   DAO IN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E429F-D30B-4CED-A3F5-C7619386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E6FF"/>
                </a:solidFill>
              </a:defRPr>
            </a:pPr>
            <a:r>
              <a:rPr sz="2250" b="1">
                <a:solidFill>
                  <a:srgbClr val="13E6FF"/>
                </a:solidFill>
              </a:rPr>
              <a:t>ATTESTCOIN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40FF0-08DB-4E4E-AEA2-05A56AFE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establishes what happened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057A0-BF3C-41F9-B286-50A3CF70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A875FF"/>
                </a:solidFill>
              </a:defRPr>
            </a:pPr>
            <a:r>
              <a:rPr sz="2250" b="1">
                <a:solidFill>
                  <a:srgbClr val="A875FF"/>
                </a:solidFill>
              </a:rPr>
              <a:t>AI COMMITTEE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89B24-6E39-4D35-92BC-C072E1D6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explains what should happen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CD7BF-7C0C-4587-804A-8B1CDAE1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BE3D"/>
                </a:solidFill>
              </a:defRPr>
            </a:pPr>
            <a:r>
              <a:rPr sz="2250" b="1">
                <a:solidFill>
                  <a:srgbClr val="FFBE3D"/>
                </a:solidFill>
              </a:rPr>
              <a:t>DAO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E27EF-FBEA-4F88-8CC0-595DF93B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EB2C5"/>
                </a:solidFill>
              </a:defRPr>
            </a:pPr>
            <a:r>
              <a:rPr sz="1500" b="0">
                <a:solidFill>
                  <a:srgbClr val="8EB2C5"/>
                </a:solidFill>
              </a:rPr>
              <a:t>decides what may happen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AE015-4DF7-4771-A5F8-8658DABD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46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DF63D-7B06-4C18-8BB4-FD1DDC2D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2FBFF"/>
                </a:solidFill>
              </a:defRPr>
            </a:pPr>
            <a:r>
              <a:rPr sz="2400" b="1">
                <a:solidFill>
                  <a:srgbClr val="F2FBFF"/>
                </a:solidFill>
              </a:rPr>
              <a:t>AEOS turns verified cross-chain facts into cited institutional advice and governed outcomes—without giving AI asset authority.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0367D-FDCC-4417-883F-C5DA406A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8EB2C5"/>
                </a:solidFill>
              </a:defRPr>
            </a:pPr>
            <a:r>
              <a:rPr sz="1350" b="1">
                <a:solidFill>
                  <a:srgbClr val="8EB2C5"/>
                </a:solidFill>
              </a:rPr>
              <a:t>Independent developer · Yang Damin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FC549-F870-4EE8-AD84-373BB29C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95900"/>
            <a:ext cx="3752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62333"/>
          </a:solidFill>
          <a:ln xmlns:a="http://schemas.openxmlformats.org/drawingml/2006/main" w="11430">
            <a:solidFill>
              <a:srgbClr val="58F2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70EEC-1854-418E-A9EC-2A95301B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625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8F28B"/>
                </a:solidFill>
              </a:defRPr>
            </a:pPr>
            <a:r>
              <a:rPr sz="1050" b="1">
                <a:solidFill>
                  <a:srgbClr val="58F28B"/>
                </a:solidFill>
              </a:rPr>
              <a:t>AUDIT-READY · HUMAN ACCOUNTABLE</a:t>
            </a:r>
          </a:p>
        </p:txBody>
      </p:sp>
    </p:spTree>
    <p:extLst>
      <p:ext uri="{BB962C8B-B14F-4D97-AF65-F5344CB8AC3E}">
        <p14:creationId xmlns:p14="http://schemas.microsoft.com/office/powerpoint/2010/main" val="232350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2026-08-28T03:19:52.7700000Z</dcterms:created>
  <dcterms:modified xsi:type="dcterms:W3CDTF">2026-08-28T03:19:52.7700000Z</dcterms:modified>
</coreProperties>
</file>